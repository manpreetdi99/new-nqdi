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097280"/>
            <a:ext cx="5029200" cy="5029200"/>
          </a:xfrm>
          <a:prstGeom prst="ellipse">
            <a:avLst/>
          </a:prstGeom>
          <a:solidFill>
            <a:srgbClr val="004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56032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FASMETRICS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Performance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48CAE4"/>
                </a:solidFill>
              </a:rPr>
              <a:t>Telecom Network Quality &amp; SQL Benchmarking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BED4"/>
                </a:solidFill>
              </a:rPr>
              <a:t>A full-stack analytics dashboard for telecom engineers
to benchmark SQL Server queries and analyse
mobile network KPIs in real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6373368"/>
            <a:ext cx="1069848" cy="32918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6373368"/>
            <a:ext cx="996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React 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1639" y="6373368"/>
            <a:ext cx="1280160" cy="32918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28216" y="6373368"/>
            <a:ext cx="1207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TypeScript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36391" y="6373368"/>
            <a:ext cx="964692" cy="32918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72968" y="6373368"/>
            <a:ext cx="8915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5676" y="6373368"/>
            <a:ext cx="1280160" cy="32918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2252" y="6373368"/>
            <a:ext cx="1207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SQL Server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0428" y="6373368"/>
            <a:ext cx="1069848" cy="32918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7004" y="6373368"/>
            <a:ext cx="99669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Recharts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4868" y="6373368"/>
            <a:ext cx="964692" cy="32918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1444" y="6373368"/>
            <a:ext cx="8915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Leaflet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74152" y="6373368"/>
            <a:ext cx="1490472" cy="32918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0727" y="6373368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Tailwind CSS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64748B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20116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029200" cy="1764792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087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ED4"/>
                </a:solidFill>
              </a:rPr>
              <a:t>• Full-stack web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79222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ED4"/>
                </a:solidFill>
              </a:rPr>
              <a:t>• React + TypeScript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0756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ED4"/>
                </a:solidFill>
              </a:rPr>
              <a:t>• Python FastAPI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35915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ED4"/>
                </a:solidFill>
              </a:rPr>
              <a:t>• SQL Server database integration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07792"/>
            <a:ext cx="5029200" cy="1472184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9992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WHO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3649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ED4"/>
                </a:solidFill>
              </a:rPr>
              <a:t>• Telecom network engineers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64845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ED4"/>
                </a:solidFill>
              </a:rPr>
              <a:t>• COSMOTE / Greek operator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9319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ED4"/>
                </a:solidFill>
              </a:rPr>
              <a:t>• Performance &amp; QA analysts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71416"/>
            <a:ext cx="5029200" cy="1764792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45628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3"/>
                </a:solidFill>
              </a:rPr>
              <a:t>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92861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ED4"/>
                </a:solidFill>
              </a:rPr>
              <a:t>• Benchmark slow SQL queries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2120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ED4"/>
                </a:solidFill>
              </a:rPr>
              <a:t>• Analyse call quality (MOS, setup time)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49554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ED4"/>
                </a:solidFill>
              </a:rPr>
              <a:t>• Visualise 4G/5G antenna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577900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ED4"/>
                </a:solidFill>
              </a:rPr>
              <a:t>• Identify dropped &amp; failed calls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051560"/>
            <a:ext cx="5486400" cy="530352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17043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Architecture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1691640"/>
            <a:ext cx="3657600" cy="502920"/>
          </a:xfrm>
          <a:prstGeom prst="rect">
            <a:avLst/>
          </a:prstGeom>
          <a:solidFill>
            <a:srgbClr val="17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170992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</a:rPr>
              <a:t>BROWSER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19385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React 18 + TypeScript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220370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2423160"/>
            <a:ext cx="3657600" cy="502920"/>
          </a:xfrm>
          <a:prstGeom prst="rect">
            <a:avLst/>
          </a:prstGeom>
          <a:solidFill>
            <a:srgbClr val="0D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24414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</a:rPr>
              <a:t>BACKEND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26700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FastAPI (Python 3.11)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293522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0" y="3154680"/>
            <a:ext cx="3657600" cy="502920"/>
          </a:xfrm>
          <a:prstGeom prst="rect">
            <a:avLst/>
          </a:prstGeom>
          <a:solidFill>
            <a:srgbClr val="3B1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9480" y="317296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703"/>
                </a:solidFill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34015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SQL Server + ODBC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366674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0" y="3886200"/>
            <a:ext cx="3657600" cy="502920"/>
          </a:xfrm>
          <a:prstGeom prst="rect">
            <a:avLst/>
          </a:prstGeom>
          <a:solidFill>
            <a:srgbClr val="28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9480" y="3904487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76F"/>
                </a:solidFill>
              </a:rPr>
              <a:t>FILES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4133087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Excel (geo4g.xlsx)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439826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0" y="4617720"/>
            <a:ext cx="3657600" cy="502920"/>
          </a:xfrm>
          <a:prstGeom prst="rect">
            <a:avLst/>
          </a:prstGeom>
          <a:solidFill>
            <a:srgbClr val="1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9480" y="4636007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MAPS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9480" y="48646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Leaflet + OpenStreetMap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73736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2560320" cy="50292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25603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0B4D8"/>
                </a:solidFill>
              </a:rPr>
              <a:t>SQL Benchmarking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0BED4"/>
                </a:solidFill>
              </a:rPr>
              <a:t>• Batch execution of SQL queries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9968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0BED4"/>
                </a:solidFill>
              </a:rPr>
              <a:t>• Execution time &amp; row count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14016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0BED4"/>
                </a:solidFill>
              </a:rPr>
              <a:t>• Stats: total time, avg time, query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98064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0BED4"/>
                </a:solidFill>
              </a:rPr>
              <a:t>• Pre-built query template library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8211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0BED4"/>
                </a:solidFill>
              </a:rPr>
              <a:t>• Smart chart auto-selection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005840"/>
            <a:ext cx="2560320" cy="50292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005840"/>
            <a:ext cx="256032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14300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6D6A0"/>
                </a:solidFill>
              </a:rPr>
              <a:t>All Calls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16459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0BED4"/>
                </a:solidFill>
              </a:rPr>
              <a:t>• Filter by collection, location,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029968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0BED4"/>
                </a:solidFill>
              </a:rPr>
              <a:t>• Color-coded call statuses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414016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0BED4"/>
                </a:solidFill>
              </a:rPr>
              <a:t>• Setup time, duration, MOS display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798064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0BED4"/>
                </a:solidFill>
              </a:rPr>
              <a:t>• Click to open detailed call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18211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0BED4"/>
                </a:solidFill>
              </a:rPr>
              <a:t>• Comment/annotation support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005840"/>
            <a:ext cx="2560320" cy="50292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005840"/>
            <a:ext cx="2560320" cy="73152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14300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B703"/>
                </a:solidFill>
              </a:rPr>
              <a:t>Data Sessions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6459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0BED4"/>
                </a:solidFill>
              </a:rPr>
              <a:t>• Test type &amp; direction filters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029968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0BED4"/>
                </a:solidFill>
              </a:rPr>
              <a:t>• Throughput &amp; ping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414016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0BED4"/>
                </a:solidFill>
              </a:rPr>
              <a:t>• YouTube MOS scoring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798064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0BED4"/>
                </a:solidFill>
              </a:rPr>
              <a:t>• Side-by-side A/B device 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18211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0BED4"/>
                </a:solidFill>
              </a:rPr>
              <a:t>• Per-session timeline events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1005840"/>
            <a:ext cx="2560320" cy="50292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61120" y="1005840"/>
            <a:ext cx="2560320" cy="7315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114300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F476F"/>
                </a:solidFill>
              </a:rPr>
              <a:t>Antennas 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16459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0BED4"/>
                </a:solidFill>
              </a:rPr>
              <a:t>• 4G/5G cell tower database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2029968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0BED4"/>
                </a:solidFill>
              </a:rPr>
              <a:t>• Leaflet interactive 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414016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0BED4"/>
                </a:solidFill>
              </a:rPr>
              <a:t>• Site ID, Cell ID, PCI, Azimuth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2798064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0BED4"/>
                </a:solidFill>
              </a:rPr>
              <a:t>• Downtilt, height, vendor info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318211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B0BED4"/>
                </a:solidFill>
              </a:rPr>
              <a:t>• Greece coverage visualization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SQL Benchmarking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27432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2148840" cy="15544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34440" y="1097280"/>
            <a:ext cx="594360" cy="5943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0972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105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Select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1945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D4"/>
                </a:solidFill>
              </a:rPr>
              <a:t>Choose SQL Server DB from dropdown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627632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005840"/>
            <a:ext cx="2148840" cy="15544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66160" y="1097280"/>
            <a:ext cx="594360" cy="594360"/>
          </a:xfrm>
          <a:prstGeom prst="ellipse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0972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18105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8CAE4"/>
                </a:solidFill>
              </a:rPr>
              <a:t>Write / Build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8648" y="21945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D4"/>
                </a:solidFill>
              </a:rPr>
              <a:t>SQL mode or visual Query Builder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627632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1005840"/>
            <a:ext cx="2148840" cy="15544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97879" y="1097280"/>
            <a:ext cx="594360" cy="59436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79" y="10972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18105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Run Benchmark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21945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D4"/>
                </a:solidFill>
              </a:rPr>
              <a:t>POST /api/benchmark — batch execution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79" y="1627632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59" y="1005840"/>
            <a:ext cx="2148840" cy="15544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599" y="1097280"/>
            <a:ext cx="594360" cy="594360"/>
          </a:xfrm>
          <a:prstGeom prst="ellipse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9" y="10972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2087" y="18105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703"/>
                </a:solidFill>
              </a:rPr>
              <a:t>View Stats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2087" y="21945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D4"/>
                </a:solidFill>
              </a:rPr>
              <a:t>Time, rows, avg time per query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199" y="1627632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1005840"/>
            <a:ext cx="2148840" cy="15544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561319" y="1097280"/>
            <a:ext cx="594360" cy="594360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61319" y="10972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93807" y="18105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F476F"/>
                </a:solidFill>
              </a:rPr>
              <a:t>Analyse Charts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7" y="21945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D4"/>
                </a:solidFill>
              </a:rPr>
              <a:t>Auto-selected Bar / Area / Radar chart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788920"/>
            <a:ext cx="5303520" cy="36576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2880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API Request  (POST /api/benchmark)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3291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6D6A0"/>
                </a:solidFill>
              </a:rPr>
              <a:t>{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67588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6D6A0"/>
                </a:solidFill>
              </a:rPr>
              <a:t>  "database": "COSMOTE_LTE_2025",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05993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6D6A0"/>
                </a:solidFill>
              </a:rPr>
              <a:t>  "queries": [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444398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6D6A0"/>
                </a:solidFill>
              </a:rPr>
              <a:t>    "SELECT TOP 200 * FROM CallAnalysis",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48280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6D6A0"/>
                </a:solidFill>
              </a:rPr>
              <a:t>    "SELECT AVG(MOS) FROM Calls WHERE tech='LTE'"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212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6D6A0"/>
                </a:solidFill>
              </a:rPr>
              <a:t>  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5961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6D6A0"/>
                </a:solidFill>
              </a:rPr>
              <a:t>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2788920"/>
            <a:ext cx="5623560" cy="36576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2880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703"/>
                </a:solidFill>
              </a:rPr>
              <a:t>Response Metrics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3337560"/>
            <a:ext cx="1645920" cy="384048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337413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8CAE4"/>
                </a:solidFill>
              </a:rPr>
              <a:t>Query Label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337413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Descriptive name per query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3886200"/>
            <a:ext cx="1645920" cy="384048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92277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Execution Time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1000" y="392277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Milliseconds per query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4434840"/>
            <a:ext cx="1645920" cy="384048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60" y="447141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703"/>
                </a:solidFill>
              </a:rPr>
              <a:t>Rows Returned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01000" y="44714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COUNT(*) from result set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4983479"/>
            <a:ext cx="1645920" cy="384048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60" y="5020055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Column Names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01000" y="5020055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Schema metadata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63640" y="5532120"/>
            <a:ext cx="1645920" cy="384048"/>
          </a:xfrm>
          <a:prstGeom prst="rect">
            <a:avLst/>
          </a:prstGeom>
          <a:solidFill>
            <a:srgbClr val="11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9360" y="556869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ED4"/>
                </a:solidFill>
              </a:rPr>
              <a:t>Data Array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01000" y="55686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Full result rows as 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Telecom Network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320040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176272" cy="118872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2176272" cy="64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MOS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49047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Mean Opinion Score
Voice quality 1–5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79" y="1005840"/>
            <a:ext cx="2176272" cy="118872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97479" y="1005840"/>
            <a:ext cx="217627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07208" y="11155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Setup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8" y="149047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Call setup latency
in milliseconds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005840"/>
            <a:ext cx="2176272" cy="118872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1005840"/>
            <a:ext cx="2176272" cy="6400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8928" y="11155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3"/>
                </a:solidFill>
              </a:rPr>
              <a:t>RSRP / RSRQ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149047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LTE signal strength
and quality indicators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19" y="1005840"/>
            <a:ext cx="2176272" cy="118872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19" y="1005840"/>
            <a:ext cx="2176272" cy="64008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0647" y="11155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76F"/>
                </a:solidFill>
              </a:rPr>
              <a:t>Throughput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0647" y="149047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DL/UL speeds
Mbps per session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1005840"/>
            <a:ext cx="2176272" cy="118872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92640" y="1005840"/>
            <a:ext cx="2176272" cy="64008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02367" y="11155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8CAE4"/>
                </a:solidFill>
              </a:rPr>
              <a:t>Call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7" y="149047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Completed / Dropped
Failed / System Release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377440"/>
            <a:ext cx="5394960" cy="41148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2542032"/>
            <a:ext cx="50657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Call Record Fields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2926080"/>
            <a:ext cx="50657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ED4"/>
                </a:solidFill>
              </a:rPr>
              <a:t>  Session ID (unique call identifier)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3200400"/>
            <a:ext cx="50657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ED4"/>
                </a:solidFill>
              </a:rPr>
              <a:t>  Technology: 5G SA / 5G NSA / 4G LTE / 3G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3474720"/>
            <a:ext cx="50657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ED4"/>
                </a:solidFill>
              </a:rPr>
              <a:t>  Call Type: Voice, Video, VoLTE, VoNR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3749039"/>
            <a:ext cx="50657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ED4"/>
                </a:solidFill>
              </a:rPr>
              <a:t>  Duration (seconds), Setup Time (ms)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4023359"/>
            <a:ext cx="50657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ED4"/>
                </a:solidFill>
              </a:rPr>
              <a:t>  Avg MOS (1–5 scale)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4297679"/>
            <a:ext cx="50657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ED4"/>
                </a:solidFill>
              </a:rPr>
              <a:t>  Location, Latitude / Longitude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4571999"/>
            <a:ext cx="50657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ED4"/>
                </a:solidFill>
              </a:rPr>
              <a:t>  isValid flag + comment annotation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4846319"/>
            <a:ext cx="506577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ED4"/>
                </a:solidFill>
              </a:rPr>
              <a:t>  A-side &amp; B-side device measurement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377440"/>
            <a:ext cx="5623560" cy="41148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2468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Network Technologies Tracked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2971800"/>
            <a:ext cx="1097280" cy="34747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29718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5G SA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299923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Standalone 5G NR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438144"/>
            <a:ext cx="109728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34381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5G NSA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3465575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5G New Radio + 4G anchor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3904487"/>
            <a:ext cx="1097280" cy="347472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3904487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4G LTE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43800" y="39319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Long Term Evolution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5080" y="4370832"/>
            <a:ext cx="1097280" cy="34747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43708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3G UMTS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43800" y="439826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Universal Mobile Telecom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4837176"/>
            <a:ext cx="1097280" cy="347472"/>
          </a:xfrm>
          <a:prstGeom prst="rect">
            <a:avLst/>
          </a:prstGeom>
          <a:solidFill>
            <a:srgbClr val="A8D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483717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2G GSM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43800" y="486460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Global System for Mobile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55080" y="5303520"/>
            <a:ext cx="1097280" cy="34747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5080" y="53035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VoLTE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43800" y="533095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Voice over LTE (HD Voice)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55080" y="5769864"/>
            <a:ext cx="1097280" cy="34747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5080" y="57698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VoNR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43800" y="579729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Voice over New Radio (5G)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2286000" cy="4572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394960" cy="54864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39496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• React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5727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UI framework + hooks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CAE4"/>
                </a:solidFill>
              </a:rPr>
              <a:t>• 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9202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Type-safe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677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• Vite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26771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Build tool &amp; dev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1518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3"/>
                </a:solidFill>
              </a:rPr>
              <a:t>• Tailwind CSS 3.4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61518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Utility-first styling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96265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BED4"/>
                </a:solidFill>
              </a:rPr>
              <a:t>• shadcn/ui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96265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Radix UI component library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101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76F"/>
                </a:solidFill>
              </a:rPr>
              <a:t>• Recharts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3101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Bar, Area, Radar charts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57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• Leaflet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657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Interactive map tiles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0050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CAE4"/>
                </a:solidFill>
              </a:rPr>
              <a:t>• React Router v6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00507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Client-side routing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5254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3"/>
                </a:solidFill>
              </a:rPr>
              <a:t>• Framer Motion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35254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Page &amp; component animations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70001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• TanStack Query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70001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Server state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0474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BED4"/>
                </a:solidFill>
              </a:rPr>
              <a:t>• React Hook 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0474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Form management + Zod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94959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</a:rPr>
              <a:t>• Lucide React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39495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SVG icon library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1005840"/>
            <a:ext cx="5532120" cy="54864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1005840"/>
            <a:ext cx="5532120" cy="64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107899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</a:rPr>
              <a:t>Backend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15727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• FastAPI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15727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Async Python REST framework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1920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BED4"/>
                </a:solidFill>
              </a:rPr>
              <a:t>• Python 3.11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1920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Core runtime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22677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3"/>
                </a:solidFill>
              </a:rPr>
              <a:t>• pyodbc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22677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SQL Server ODBC driver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261518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3"/>
                </a:solidFill>
              </a:rPr>
              <a:t>• ODBC Driver 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261518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Microsoft SQL connectivity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296265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BED4"/>
                </a:solidFill>
              </a:rPr>
              <a:t>• SQLAlchemy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29626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ORM (minimal usage)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33101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• openpyxl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33101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Excel file reader (antennas)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36576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</a:rPr>
              <a:t>• python-dotenv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3657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Environment config / secrets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40050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• Uvicorn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20" y="40050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ASGI server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435254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BED4"/>
                </a:solidFill>
              </a:rPr>
              <a:t>• CORS Middleware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435254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Cross-origin request support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70001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76F"/>
                </a:solidFill>
              </a:rPr>
              <a:t>• SQL Server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32520" y="470001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Production database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50474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3"/>
                </a:solidFill>
              </a:rPr>
              <a:t>• Excel .xlsx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32520" y="50474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Antenna geo-database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539495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CAE4"/>
                </a:solidFill>
              </a:rPr>
              <a:t>• LAN Deployment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32520" y="539495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192.168.x.x multi-user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REST API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2560320" cy="457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611880" cy="41148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6118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09728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Databases &amp; Collections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481328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BED4"/>
                </a:solidFill>
              </a:rPr>
              <a:t>GET  /api/databases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819656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BED4"/>
                </a:solidFill>
              </a:rPr>
              <a:t>GET  /api/collections?database=X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157984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BED4"/>
                </a:solidFill>
              </a:rPr>
              <a:t>GET  /api/locations?database=X&amp;collection=Y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257800"/>
            <a:ext cx="3611880" cy="164592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5257800"/>
            <a:ext cx="3611880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534924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Call &amp; Session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5733288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BED4"/>
                </a:solidFill>
              </a:rPr>
              <a:t>GET  /api/calls  (with filters)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6071616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BED4"/>
                </a:solidFill>
              </a:rPr>
              <a:t>GET  /api/data_calls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6409944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BED4"/>
                </a:solidFill>
              </a:rPr>
              <a:t>POST /api/calls/comment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005840"/>
            <a:ext cx="3657600" cy="19202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005840"/>
            <a:ext cx="3657600" cy="54864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8" y="10972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3"/>
                </a:solidFill>
              </a:rPr>
              <a:t>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148132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BED4"/>
                </a:solidFill>
              </a:rPr>
              <a:t>POST /api/benchmark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1819656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BED4"/>
                </a:solidFill>
              </a:rPr>
              <a:t>GET  /api/results_kpi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017520"/>
            <a:ext cx="3657600" cy="26060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017520"/>
            <a:ext cx="3657600" cy="54864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8" y="31089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CAE4"/>
                </a:solidFill>
              </a:rPr>
              <a:t>LTE Measurements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349300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BED4"/>
                </a:solidFill>
              </a:rPr>
              <a:t>GET  /api/lte_values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3831335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BED4"/>
                </a:solidFill>
              </a:rPr>
              <a:t>GET  /api/lte_values_b_side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4169663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BED4"/>
                </a:solidFill>
              </a:rPr>
              <a:t>GET  /api/lte_measurement_comparison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4507992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BED4"/>
                </a:solidFill>
              </a:rPr>
              <a:t>GET  /api/lte_scanner_measurement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484632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BED4"/>
                </a:solidFill>
              </a:rPr>
              <a:t>GET  /api/lte_scanner_raw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5715000"/>
            <a:ext cx="3657600" cy="219456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80" y="5715000"/>
            <a:ext cx="3657600" cy="54864"/>
          </a:xfrm>
          <a:prstGeom prst="rect">
            <a:avLst/>
          </a:prstGeom>
          <a:solidFill>
            <a:srgbClr val="A8D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07408" y="58064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8DADC"/>
                </a:solidFill>
              </a:rPr>
              <a:t>GSM Measurements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8" y="619048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BED4"/>
                </a:solidFill>
              </a:rPr>
              <a:t>GET  /api/gsm_values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7408" y="6528816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BED4"/>
                </a:solidFill>
              </a:rPr>
              <a:t>GET  /api/gsm_values_b_side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8" y="686714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BED4"/>
                </a:solidFill>
              </a:rPr>
              <a:t>GET  /api/gsm_context_signal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07408" y="7205471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BED4"/>
                </a:solidFill>
              </a:rPr>
              <a:t>GET  /api/gsm_scanner_raw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1005840"/>
            <a:ext cx="3657600" cy="36576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1005840"/>
            <a:ext cx="3657600" cy="54864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39327" y="10972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76F"/>
                </a:solidFill>
              </a:rPr>
              <a:t>Call Context &amp; Analysis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7" y="148132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BED4"/>
                </a:solidFill>
              </a:rPr>
              <a:t>GET  /api/call_context_signal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7" y="1819656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BED4"/>
                </a:solidFill>
              </a:rPr>
              <a:t>GET  /api/call_context_technology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9327" y="2157984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BED4"/>
                </a:solidFill>
              </a:rPr>
              <a:t>GET  /api/call_side_comparison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9327" y="2496312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BED4"/>
                </a:solidFill>
              </a:rPr>
              <a:t>GET  /api/call_paging_info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9327" y="2834640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BED4"/>
                </a:solidFill>
              </a:rPr>
              <a:t>GET  /api/call_device_info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7" y="317296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BED4"/>
                </a:solidFill>
              </a:rPr>
              <a:t>GET  /api/tracelog_values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9327" y="3511296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BED4"/>
                </a:solidFill>
              </a:rPr>
              <a:t>GET  /api/cell_info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4800600"/>
            <a:ext cx="3657600" cy="10058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29600" y="4800600"/>
            <a:ext cx="3657600" cy="54864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9327" y="48920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3"/>
                </a:solidFill>
              </a:rPr>
              <a:t>Infrastructure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39327" y="527608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BED4"/>
                </a:solidFill>
              </a:rPr>
              <a:t>GET  /api/antennas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80" y="201168"/>
            <a:ext cx="1417320" cy="41148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26280" y="201168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25+ Endpoints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UI / UX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2377440" cy="4572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577840" cy="47548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4864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4241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Dark Theme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07899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Navy/cyan dark palette — built for long monitoring sessions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5577840" cy="47548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554480"/>
            <a:ext cx="54864" cy="47548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9105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Responsive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162763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Tailwind CSS — works on desktop, tablet, and mobile screens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03120"/>
            <a:ext cx="5577840" cy="47548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54864" cy="47548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13969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3"/>
                </a:solidFill>
              </a:rPr>
              <a:t>Toast Notifications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1762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Sonner library — success/error/info toasts on every 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51760"/>
            <a:ext cx="5577840" cy="47548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651760"/>
            <a:ext cx="54864" cy="475488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268833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76F"/>
                </a:solidFill>
              </a:rPr>
              <a:t>Smart Charts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272491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Auto-detects data shape → picks Bar, Area, or Radar chart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00400"/>
            <a:ext cx="5577840" cy="47548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200400"/>
            <a:ext cx="54864" cy="475488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23697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8CAE4"/>
                </a:solidFill>
              </a:rPr>
              <a:t>Persistent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327355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localStorage remembers DB, collection, tab, location filters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005840"/>
            <a:ext cx="5577840" cy="47548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1005840"/>
            <a:ext cx="54864" cy="47548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2" y="104241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Scroll-to-View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107899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Auto-scrolls to selected call row when switching between tabs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1554480"/>
            <a:ext cx="5577840" cy="47548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1554480"/>
            <a:ext cx="54864" cy="47548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159105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703"/>
                </a:solidFill>
              </a:rPr>
              <a:t>Framer Motion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162763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Smooth page transitions and card entrance animations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2103120"/>
            <a:ext cx="5577840" cy="47548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2103120"/>
            <a:ext cx="54864" cy="475488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8232" y="213969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76F"/>
                </a:solidFill>
              </a:rPr>
              <a:t>Color-coded 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17627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Red=Invalid, Orange=Dropped, Violet=System Release, Green=OK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2651760"/>
            <a:ext cx="5577840" cy="47548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2651760"/>
            <a:ext cx="54864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8232" y="268833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Dual Editor Modes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272491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Raw SQL editor OR visual Query Builder — same output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3200400"/>
            <a:ext cx="5577840" cy="47548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3200400"/>
            <a:ext cx="54864" cy="475488"/>
          </a:xfrm>
          <a:prstGeom prst="rect">
            <a:avLst/>
          </a:prstGeom>
          <a:solidFill>
            <a:srgbClr val="B0B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8232" y="323697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0BED4"/>
                </a:solidFill>
              </a:rPr>
              <a:t>Greek Locale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327355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Number formatting (1.234,56) for Greek telecom standards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6446520"/>
            <a:ext cx="11475720" cy="3200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46480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Application available on LAN: http://192.168.10.44:5173  |  API: http://192.168.10.44:8000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46304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2194560" cy="10058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21945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04288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ENGINEER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70048"/>
            <a:ext cx="20116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4"/>
                </a:solidFill>
              </a:rPr>
              <a:t>Selects DB, enters SQL,
applies filters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194560"/>
            <a:ext cx="2194560" cy="10058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2194560"/>
            <a:ext cx="2194560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304288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REACT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670048"/>
            <a:ext cx="20116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4"/>
                </a:solidFill>
              </a:rPr>
              <a:t>Manages state, calls
FastAPI endpoints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194560"/>
            <a:ext cx="2194560" cy="10058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0" y="2194560"/>
            <a:ext cx="2194560" cy="54864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2304288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703"/>
                </a:solidFill>
              </a:rPr>
              <a:t>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670048"/>
            <a:ext cx="20116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4"/>
                </a:solidFill>
              </a:rPr>
              <a:t>Validates params,
executes queries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2194560"/>
            <a:ext cx="2194560" cy="10058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0" y="2194560"/>
            <a:ext cx="2194560" cy="54864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2304288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76F"/>
                </a:solidFill>
              </a:rPr>
              <a:t>SQL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670048"/>
            <a:ext cx="20116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4"/>
                </a:solidFill>
              </a:rPr>
              <a:t>Returns rows,
timings, metadata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4297680"/>
            <a:ext cx="2194560" cy="10058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0" y="4297680"/>
            <a:ext cx="2194560" cy="54864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4407408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8CAE4"/>
                </a:solidFill>
              </a:rPr>
              <a:t>EXCEL 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773168"/>
            <a:ext cx="20116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4"/>
                </a:solidFill>
              </a:rPr>
              <a:t>geo4g.xlsx
Antenna locations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4297680"/>
            <a:ext cx="2194560" cy="10058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4297680"/>
            <a:ext cx="2194560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4407408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LEAFLET 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4773168"/>
            <a:ext cx="20116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4"/>
                </a:solidFill>
              </a:rPr>
              <a:t>Renders cell towers
on OSM tiles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297680"/>
            <a:ext cx="2194560" cy="10058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297680"/>
            <a:ext cx="21945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407408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RECHARTS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773168"/>
            <a:ext cx="20116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4"/>
                </a:solidFill>
              </a:rPr>
              <a:t>Renders Bar/Area/
Radar charts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80" y="26334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26334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263347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25526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80" y="472744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4748B"/>
                </a:solidFill>
              </a:rPr>
              <a:t>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72744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4748B"/>
                </a:solidFill>
              </a:rPr>
              <a:t>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40680" y="3291840"/>
            <a:ext cx="45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JSON results
(rows, times)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669280"/>
            <a:ext cx="11475720" cy="10058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7607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Deployment Note: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10819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Frontend and backend both run on the same LAN server. Multiple engineers can connect simultaneously from their own machines. API base URL is configured via VITE_API_BASE_URL environment variable. SQL Server credentials are stored in backend/.env file.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Project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237744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394960" cy="54406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39496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7899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Frontend  (src/)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508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4D8"/>
                </a:solidFill>
              </a:rPr>
              <a:t>pages/Index.tsx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5087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4"/>
                </a:solidFill>
              </a:rPr>
              <a:t>Main dashboard, 1000+ 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85623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8CAE4"/>
                </a:solidFill>
              </a:rPr>
              <a:t>components/QueryEditor.tsx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856231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4"/>
                </a:solidFill>
              </a:rPr>
              <a:t>SQL editor with dual modes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20370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D6A0"/>
                </a:solidFill>
              </a:rPr>
              <a:t>components/BenchmarkCharts.tsx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20370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4"/>
                </a:solidFill>
              </a:rPr>
              <a:t>Recharts visualization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5511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B703"/>
                </a:solidFill>
              </a:rPr>
              <a:t>components/CallsList.tsx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55117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4"/>
                </a:solidFill>
              </a:rPr>
              <a:t>Call records table + filters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898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F476F"/>
                </a:solidFill>
              </a:rPr>
              <a:t>components/CallDetail.tsx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8986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4"/>
                </a:solidFill>
              </a:rPr>
              <a:t>Detailed call 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3246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D6A0"/>
                </a:solidFill>
              </a:rPr>
              <a:t>components/AntennasMap.tsx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4"/>
                </a:solidFill>
              </a:rPr>
              <a:t>Leaflet cell tower 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35935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8CAE4"/>
                </a:solidFill>
              </a:rPr>
              <a:t>components/DataSessionsList.tsx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5935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4"/>
                </a:solidFill>
              </a:rPr>
              <a:t>Data session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39410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4D8"/>
                </a:solidFill>
              </a:rPr>
              <a:t>lib/api.ts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394106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4"/>
                </a:solidFill>
              </a:rPr>
              <a:t>HTTP client, 500+ 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428853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4748B"/>
                </a:solidFill>
              </a:rPr>
              <a:t>lib/callData.ts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428853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4"/>
                </a:solidFill>
              </a:rPr>
              <a:t>Mock data generation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46360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B703"/>
                </a:solidFill>
              </a:rPr>
              <a:t>types/benchmark.ts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463600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4"/>
                </a:solidFill>
              </a:rPr>
              <a:t>TypeScript interfaces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49834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0BED4"/>
                </a:solidFill>
              </a:rPr>
              <a:t>hooks/use-local-storage.ts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498347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4"/>
                </a:solidFill>
              </a:rPr>
              <a:t>Persistent state hook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5330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4748B"/>
                </a:solidFill>
              </a:rPr>
              <a:t>components/ui/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53309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D4"/>
                </a:solidFill>
              </a:rPr>
              <a:t>30+ shadcn/ui components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1005840"/>
            <a:ext cx="5623560" cy="292608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1005840"/>
            <a:ext cx="5623560" cy="64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107899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Backend  (backend/)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1508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D6A0"/>
                </a:solidFill>
              </a:rPr>
              <a:t>app.py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1508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FastAPI routes, 2154 lines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1892807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B4D8"/>
                </a:solidFill>
              </a:rPr>
              <a:t>db.py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1892807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SQL Server connection helpers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227685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B703"/>
                </a:solidFill>
              </a:rPr>
              <a:t>queries.py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227685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SQL templates &amp; helpers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266090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4748B"/>
                </a:solidFill>
              </a:rPr>
              <a:t>requirements.txt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266090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Python dependencies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2512" y="30449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F476F"/>
                </a:solidFill>
              </a:rPr>
              <a:t>.env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9640" y="30449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ED4"/>
                </a:solidFill>
              </a:rPr>
              <a:t>DB credentials (not committed)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4069080"/>
            <a:ext cx="5623560" cy="237744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17920" y="4069080"/>
            <a:ext cx="5623560" cy="6400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82512" y="41422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703"/>
                </a:solidFill>
              </a:rPr>
              <a:t>Config &amp; Data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82512" y="45537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vite.config.ts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23960" y="455371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Vite &amp; proxy settings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2512" y="490118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tailwind.config.ts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23960" y="490118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Tailwind theme customization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82512" y="524865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703"/>
                </a:solidFill>
              </a:rPr>
              <a:t>package.json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23960" y="524865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~60 npm dependencies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82512" y="55961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ED4"/>
                </a:solidFill>
              </a:rPr>
              <a:t>tsconfig.app.json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23960" y="55961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TypeScript compiler config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82512" y="5943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76F"/>
                </a:solidFill>
              </a:rPr>
              <a:t>geo4g.xlsx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23960" y="5943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4G/5G antenna database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3716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657600" cy="50292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6576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✓  SQL benchmarking with timing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✓  Voice call quality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889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✓  Data session KPI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832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✓  4G/5G antenna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7763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✓  Multi-collection filtering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720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✓  Real-time LTE/GSM metrics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005840"/>
            <a:ext cx="3657600" cy="50292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005840"/>
            <a:ext cx="3657600" cy="64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097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</a:rPr>
              <a:t>Built with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6002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✓  React 18 + TypeScript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1945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✓  FastAPI + Python 3.11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7889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✓  SQL Server via pyodbc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3832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✓  Recharts data visualization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97763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✓  Leaflet interactive maps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5720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✓  Tailwind + shadcn/ui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005840"/>
            <a:ext cx="3657600" cy="5029200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1005840"/>
            <a:ext cx="3657600" cy="6400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1097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B703"/>
                </a:solidFill>
              </a:rPr>
              <a:t>For whom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16002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✓  COSMOTE network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1945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✓  QA &amp; performance analysts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7889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✓  Drive-test teams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3832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✓  Database administrators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977639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✓  Network planning teams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5720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D4"/>
                </a:solidFill>
              </a:rPr>
              <a:t>✓  Operations center staff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263640"/>
            <a:ext cx="11475720" cy="475488"/>
          </a:xfrm>
          <a:prstGeom prst="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29107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Performance Insights  |  FASMETRICS Analytics  |  Telecom Network Quality Platform  |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